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7478" autoAdjust="0"/>
  </p:normalViewPr>
  <p:slideViewPr>
    <p:cSldViewPr snapToGrid="0">
      <p:cViewPr>
        <p:scale>
          <a:sx n="150" d="100"/>
          <a:sy n="150" d="100"/>
        </p:scale>
        <p:origin x="-1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75DC4-049D-4A9B-B286-BF003F86F273}" type="datetimeFigureOut">
              <a:rPr lang="en-GB" smtClean="0"/>
              <a:t>30/10/2021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2D24-8B86-4B92-BF71-2898FDE196EB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7031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75DC4-049D-4A9B-B286-BF003F86F273}" type="datetimeFigureOut">
              <a:rPr lang="en-GB" smtClean="0"/>
              <a:t>30/10/2021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2D24-8B86-4B92-BF71-2898FDE196EB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2526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75DC4-049D-4A9B-B286-BF003F86F273}" type="datetimeFigureOut">
              <a:rPr lang="en-GB" smtClean="0"/>
              <a:t>30/10/2021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2D24-8B86-4B92-BF71-2898FDE196EB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1314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75DC4-049D-4A9B-B286-BF003F86F273}" type="datetimeFigureOut">
              <a:rPr lang="en-GB" smtClean="0"/>
              <a:t>30/10/2021</a:t>
            </a:fld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2D24-8B86-4B92-BF71-2898FDE196EB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007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75DC4-049D-4A9B-B286-BF003F86F273}" type="datetimeFigureOut">
              <a:rPr lang="en-GB" smtClean="0"/>
              <a:t>30/10/2021</a:t>
            </a:fld>
            <a:endParaRPr lang="en-GB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2D24-8B86-4B92-BF71-2898FDE196EB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096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75DC4-049D-4A9B-B286-BF003F86F273}" type="datetimeFigureOut">
              <a:rPr lang="en-GB" smtClean="0"/>
              <a:t>30/10/2021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2D24-8B86-4B92-BF71-2898FDE196EB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8497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75DC4-049D-4A9B-B286-BF003F86F273}" type="datetimeFigureOut">
              <a:rPr lang="en-GB" smtClean="0"/>
              <a:t>30/10/2021</a:t>
            </a:fld>
            <a:endParaRPr lang="en-GB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2D24-8B86-4B92-BF71-2898FDE196EB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9006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75DC4-049D-4A9B-B286-BF003F86F273}" type="datetimeFigureOut">
              <a:rPr lang="en-GB" smtClean="0"/>
              <a:t>30/10/2021</a:t>
            </a:fld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2D24-8B86-4B92-BF71-2898FDE196EB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647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75DC4-049D-4A9B-B286-BF003F86F273}" type="datetimeFigureOut">
              <a:rPr lang="en-GB" smtClean="0"/>
              <a:t>30/10/2021</a:t>
            </a:fld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2D24-8B86-4B92-BF71-2898FDE196EB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460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75DC4-049D-4A9B-B286-BF003F86F273}" type="datetimeFigureOut">
              <a:rPr lang="en-GB" smtClean="0"/>
              <a:t>30/10/2021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2D24-8B86-4B92-BF71-2898FDE196EB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9260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75DC4-049D-4A9B-B286-BF003F86F273}" type="datetimeFigureOut">
              <a:rPr lang="en-GB" smtClean="0"/>
              <a:t>30/10/2021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2D24-8B86-4B92-BF71-2898FDE196EB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2932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75DC4-049D-4A9B-B286-BF003F86F273}" type="datetimeFigureOut">
              <a:rPr lang="en-GB" smtClean="0"/>
              <a:t>30/10/2021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92D24-8B86-4B92-BF71-2898FDE196EB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433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032" y="2099397"/>
            <a:ext cx="640967" cy="703453"/>
          </a:xfrm>
          <a:prstGeom prst="rect">
            <a:avLst/>
          </a:prstGeom>
        </p:spPr>
      </p:pic>
      <p:pic>
        <p:nvPicPr>
          <p:cNvPr id="1030" name="Picture 6" descr="home 5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126" y="2752042"/>
            <a:ext cx="487736" cy="487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feld 7"/>
          <p:cNvSpPr txBox="1"/>
          <p:nvPr/>
        </p:nvSpPr>
        <p:spPr>
          <a:xfrm>
            <a:off x="5086018" y="3210868"/>
            <a:ext cx="10839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nighttime-imaging.eu</a:t>
            </a:r>
            <a:endParaRPr lang="en-GB" sz="800" dirty="0">
              <a:solidFill>
                <a:schemeClr val="bg1"/>
              </a:solidFill>
            </a:endParaRPr>
          </a:p>
        </p:txBody>
      </p:sp>
      <p:pic>
        <p:nvPicPr>
          <p:cNvPr id="1034" name="Picture 10" descr="Bil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098" y="3264005"/>
            <a:ext cx="498322" cy="498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feld 9"/>
          <p:cNvSpPr txBox="1"/>
          <p:nvPr/>
        </p:nvSpPr>
        <p:spPr>
          <a:xfrm>
            <a:off x="2050723" y="5408483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NINA</a:t>
            </a:r>
            <a:endParaRPr lang="en-GB" sz="1000" dirty="0">
              <a:solidFill>
                <a:schemeClr val="bg1"/>
              </a:solidFill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3292635" y="4500836"/>
            <a:ext cx="6270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NINA.Docs</a:t>
            </a:r>
            <a:endParaRPr lang="en-GB" sz="1400" dirty="0">
              <a:solidFill>
                <a:schemeClr val="bg1"/>
              </a:solidFill>
            </a:endParaRPr>
          </a:p>
        </p:txBody>
      </p:sp>
      <p:pic>
        <p:nvPicPr>
          <p:cNvPr id="16" name="Picture 12" descr="File:Git icon.sv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674" y="2231578"/>
            <a:ext cx="476060" cy="47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feld 16"/>
          <p:cNvSpPr txBox="1"/>
          <p:nvPr/>
        </p:nvSpPr>
        <p:spPr>
          <a:xfrm>
            <a:off x="3025385" y="2673882"/>
            <a:ext cx="11240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NINA.Plugin.Manifests</a:t>
            </a: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1720954" y="1146650"/>
            <a:ext cx="11063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NINA.Plugin.Template</a:t>
            </a:r>
            <a:endParaRPr lang="en-GB" sz="1400" dirty="0">
              <a:solidFill>
                <a:schemeClr val="bg1"/>
              </a:solidFill>
            </a:endParaRPr>
          </a:p>
        </p:txBody>
      </p:sp>
      <p:pic>
        <p:nvPicPr>
          <p:cNvPr id="22" name="Picture 12" descr="File:Git icon.sv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25" y="3284661"/>
            <a:ext cx="476060" cy="47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2" descr="File:Git icon.sv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121" y="705322"/>
            <a:ext cx="476060" cy="47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2" descr="File:Git icon.sv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155" y="4035418"/>
            <a:ext cx="476060" cy="47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12" descr="File:Git icon.sv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822" y="4938259"/>
            <a:ext cx="476060" cy="47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il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1985" y="4922189"/>
            <a:ext cx="462900" cy="46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Network Service Icon - Silverblue Icons 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422" y="2212957"/>
            <a:ext cx="590761" cy="50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feld 27"/>
          <p:cNvSpPr txBox="1"/>
          <p:nvPr/>
        </p:nvSpPr>
        <p:spPr>
          <a:xfrm>
            <a:off x="6739441" y="2673346"/>
            <a:ext cx="8547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 smtClean="0">
                <a:solidFill>
                  <a:schemeClr val="bg1"/>
                </a:solidFill>
              </a:rPr>
              <a:t>Webservice</a:t>
            </a:r>
            <a:endParaRPr lang="en-GB" sz="1400" dirty="0">
              <a:solidFill>
                <a:schemeClr val="bg1"/>
              </a:solidFill>
            </a:endParaRPr>
          </a:p>
        </p:txBody>
      </p:sp>
      <p:cxnSp>
        <p:nvCxnSpPr>
          <p:cNvPr id="12" name="Gerade Verbindung mit Pfeil 11"/>
          <p:cNvCxnSpPr>
            <a:stCxn id="28" idx="2"/>
            <a:endCxn id="1038" idx="0"/>
          </p:cNvCxnSpPr>
          <p:nvPr/>
        </p:nvCxnSpPr>
        <p:spPr>
          <a:xfrm>
            <a:off x="7166802" y="2934956"/>
            <a:ext cx="6633" cy="1987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/>
          <p:cNvCxnSpPr>
            <a:stCxn id="5" idx="1"/>
            <a:endCxn id="1040" idx="3"/>
          </p:cNvCxnSpPr>
          <p:nvPr/>
        </p:nvCxnSpPr>
        <p:spPr>
          <a:xfrm flipH="1">
            <a:off x="7462183" y="2451124"/>
            <a:ext cx="1340849" cy="15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feld 33"/>
          <p:cNvSpPr txBox="1"/>
          <p:nvPr/>
        </p:nvSpPr>
        <p:spPr>
          <a:xfrm>
            <a:off x="7712646" y="2292028"/>
            <a:ext cx="8947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00" dirty="0" smtClean="0">
                <a:solidFill>
                  <a:schemeClr val="bg1"/>
                </a:solidFill>
              </a:rPr>
              <a:t>Check for</a:t>
            </a:r>
          </a:p>
          <a:p>
            <a:pPr algn="ctr"/>
            <a:r>
              <a:rPr lang="de-DE" sz="800" dirty="0" smtClean="0">
                <a:solidFill>
                  <a:schemeClr val="bg1"/>
                </a:solidFill>
              </a:rPr>
              <a:t>Version or Plugin</a:t>
            </a:r>
            <a:endParaRPr lang="de-DE" sz="800" dirty="0">
              <a:solidFill>
                <a:schemeClr val="bg1"/>
              </a:solidFill>
            </a:endParaRPr>
          </a:p>
          <a:p>
            <a:pPr algn="ctr"/>
            <a:r>
              <a:rPr lang="de-DE" sz="800" dirty="0">
                <a:solidFill>
                  <a:schemeClr val="bg1"/>
                </a:solidFill>
              </a:rPr>
              <a:t>U</a:t>
            </a:r>
            <a:r>
              <a:rPr lang="de-DE" sz="800" dirty="0" smtClean="0">
                <a:solidFill>
                  <a:schemeClr val="bg1"/>
                </a:solidFill>
              </a:rPr>
              <a:t>pdates</a:t>
            </a:r>
            <a:endParaRPr lang="en-GB" sz="1000" dirty="0">
              <a:solidFill>
                <a:schemeClr val="bg1"/>
              </a:solidFill>
            </a:endParaRPr>
          </a:p>
        </p:txBody>
      </p:sp>
      <p:cxnSp>
        <p:nvCxnSpPr>
          <p:cNvPr id="30" name="Gerade Verbindung mit Pfeil 29"/>
          <p:cNvCxnSpPr>
            <a:stCxn id="1030" idx="3"/>
          </p:cNvCxnSpPr>
          <p:nvPr/>
        </p:nvCxnSpPr>
        <p:spPr>
          <a:xfrm flipV="1">
            <a:off x="5871862" y="2610893"/>
            <a:ext cx="999560" cy="385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Grafik 3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422" y="767073"/>
            <a:ext cx="378025" cy="378025"/>
          </a:xfrm>
          <a:prstGeom prst="rect">
            <a:avLst/>
          </a:prstGeom>
        </p:spPr>
      </p:pic>
      <p:cxnSp>
        <p:nvCxnSpPr>
          <p:cNvPr id="39" name="Gerade Verbindung mit Pfeil 38"/>
          <p:cNvCxnSpPr>
            <a:stCxn id="1040" idx="0"/>
            <a:endCxn id="37" idx="2"/>
          </p:cNvCxnSpPr>
          <p:nvPr/>
        </p:nvCxnSpPr>
        <p:spPr>
          <a:xfrm flipV="1">
            <a:off x="7166803" y="1145098"/>
            <a:ext cx="6632" cy="1067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6622642" y="579143"/>
            <a:ext cx="11015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3rd Party Plugin Hosts</a:t>
            </a:r>
            <a:endParaRPr lang="en-GB" sz="1000" dirty="0">
              <a:solidFill>
                <a:schemeClr val="bg1"/>
              </a:solidFill>
            </a:endParaRPr>
          </a:p>
        </p:txBody>
      </p:sp>
      <p:sp>
        <p:nvSpPr>
          <p:cNvPr id="49" name="Textfeld 48"/>
          <p:cNvSpPr txBox="1"/>
          <p:nvPr/>
        </p:nvSpPr>
        <p:spPr>
          <a:xfrm>
            <a:off x="6629634" y="5379433"/>
            <a:ext cx="10743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N.I.N.A. Setup Bucket</a:t>
            </a:r>
            <a:endParaRPr lang="en-GB" sz="1000" dirty="0">
              <a:solidFill>
                <a:schemeClr val="bg1"/>
              </a:solidFill>
            </a:endParaRPr>
          </a:p>
        </p:txBody>
      </p:sp>
      <p:pic>
        <p:nvPicPr>
          <p:cNvPr id="1046" name="Picture 22" descr="Help Manual Icon, HD Png Download - kind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178" y="4083821"/>
            <a:ext cx="458175" cy="39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feld 56"/>
          <p:cNvSpPr txBox="1"/>
          <p:nvPr/>
        </p:nvSpPr>
        <p:spPr>
          <a:xfrm>
            <a:off x="5214670" y="4516178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Documentation</a:t>
            </a:r>
            <a:endParaRPr lang="en-GB" sz="1400" dirty="0">
              <a:solidFill>
                <a:schemeClr val="bg1"/>
              </a:solidFill>
            </a:endParaRPr>
          </a:p>
        </p:txBody>
      </p:sp>
      <p:cxnSp>
        <p:nvCxnSpPr>
          <p:cNvPr id="50" name="Gerade Verbindung mit Pfeil 49"/>
          <p:cNvCxnSpPr>
            <a:stCxn id="24" idx="3"/>
            <a:endCxn id="1046" idx="1"/>
          </p:cNvCxnSpPr>
          <p:nvPr/>
        </p:nvCxnSpPr>
        <p:spPr>
          <a:xfrm>
            <a:off x="3849215" y="4273448"/>
            <a:ext cx="1552963" cy="6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/>
          <p:cNvSpPr txBox="1"/>
          <p:nvPr/>
        </p:nvSpPr>
        <p:spPr>
          <a:xfrm>
            <a:off x="4264790" y="4262941"/>
            <a:ext cx="6238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CI Pipeline</a:t>
            </a:r>
            <a:endParaRPr lang="en-GB" sz="1000" dirty="0">
              <a:solidFill>
                <a:schemeClr val="bg1"/>
              </a:solidFill>
            </a:endParaRPr>
          </a:p>
        </p:txBody>
      </p:sp>
      <p:pic>
        <p:nvPicPr>
          <p:cNvPr id="1052" name="Picture 28" descr="Heroku: Beschäftigte, Standort, Karriere | LinkedIn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97" y="2359641"/>
            <a:ext cx="354883" cy="354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Textfeld 64"/>
          <p:cNvSpPr txBox="1"/>
          <p:nvPr/>
        </p:nvSpPr>
        <p:spPr>
          <a:xfrm>
            <a:off x="376556" y="3731681"/>
            <a:ext cx="5709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NINA.Bot</a:t>
            </a:r>
            <a:endParaRPr lang="en-GB" sz="1000" dirty="0">
              <a:solidFill>
                <a:schemeClr val="bg1"/>
              </a:solidFill>
            </a:endParaRPr>
          </a:p>
        </p:txBody>
      </p:sp>
      <p:cxnSp>
        <p:nvCxnSpPr>
          <p:cNvPr id="52" name="Gerade Verbindung mit Pfeil 51"/>
          <p:cNvCxnSpPr>
            <a:stCxn id="22" idx="0"/>
            <a:endCxn id="1052" idx="2"/>
          </p:cNvCxnSpPr>
          <p:nvPr/>
        </p:nvCxnSpPr>
        <p:spPr>
          <a:xfrm flipV="1">
            <a:off x="669155" y="2714524"/>
            <a:ext cx="2384" cy="570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/>
          <p:cNvCxnSpPr>
            <a:stCxn id="1052" idx="0"/>
            <a:endCxn id="1056" idx="2"/>
          </p:cNvCxnSpPr>
          <p:nvPr/>
        </p:nvCxnSpPr>
        <p:spPr>
          <a:xfrm flipV="1">
            <a:off x="671539" y="1857313"/>
            <a:ext cx="9013" cy="502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6" name="Picture 32" descr="Discord befreit „Clyde“ – Design Tagebuch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97" y="1436596"/>
            <a:ext cx="574509" cy="420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Gerade Verbindung mit Pfeil 63"/>
          <p:cNvCxnSpPr>
            <a:stCxn id="25" idx="3"/>
            <a:endCxn id="1038" idx="1"/>
          </p:cNvCxnSpPr>
          <p:nvPr/>
        </p:nvCxnSpPr>
        <p:spPr>
          <a:xfrm flipV="1">
            <a:off x="2480882" y="5153639"/>
            <a:ext cx="4461103" cy="22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/>
          <p:cNvSpPr txBox="1"/>
          <p:nvPr/>
        </p:nvSpPr>
        <p:spPr>
          <a:xfrm>
            <a:off x="3359674" y="5124451"/>
            <a:ext cx="10342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Manual deployment</a:t>
            </a:r>
            <a:endParaRPr lang="en-GB" sz="800" dirty="0">
              <a:solidFill>
                <a:schemeClr val="bg1"/>
              </a:solidFill>
            </a:endParaRPr>
          </a:p>
        </p:txBody>
      </p:sp>
      <p:cxnSp>
        <p:nvCxnSpPr>
          <p:cNvPr id="81" name="Gerade Verbindung mit Pfeil 80"/>
          <p:cNvCxnSpPr>
            <a:stCxn id="16" idx="3"/>
            <a:endCxn id="1040" idx="1"/>
          </p:cNvCxnSpPr>
          <p:nvPr/>
        </p:nvCxnSpPr>
        <p:spPr>
          <a:xfrm flipV="1">
            <a:off x="3835734" y="2466719"/>
            <a:ext cx="3035688" cy="2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feld 83"/>
          <p:cNvSpPr txBox="1"/>
          <p:nvPr/>
        </p:nvSpPr>
        <p:spPr>
          <a:xfrm>
            <a:off x="4576735" y="2458516"/>
            <a:ext cx="6238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CI Pipeline</a:t>
            </a:r>
            <a:endParaRPr lang="en-GB" sz="1000" dirty="0">
              <a:solidFill>
                <a:schemeClr val="bg1"/>
              </a:solidFill>
            </a:endParaRPr>
          </a:p>
        </p:txBody>
      </p:sp>
      <p:cxnSp>
        <p:nvCxnSpPr>
          <p:cNvPr id="70" name="Gerade Verbindung mit Pfeil 69"/>
          <p:cNvCxnSpPr>
            <a:endCxn id="24" idx="1"/>
          </p:cNvCxnSpPr>
          <p:nvPr/>
        </p:nvCxnSpPr>
        <p:spPr>
          <a:xfrm>
            <a:off x="2499587" y="3768642"/>
            <a:ext cx="873568" cy="504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 Verbindung mit Pfeil 71"/>
          <p:cNvCxnSpPr>
            <a:endCxn id="16" idx="1"/>
          </p:cNvCxnSpPr>
          <p:nvPr/>
        </p:nvCxnSpPr>
        <p:spPr>
          <a:xfrm flipV="1">
            <a:off x="2500420" y="2469608"/>
            <a:ext cx="859254" cy="788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mit Pfeil 73"/>
          <p:cNvCxnSpPr>
            <a:stCxn id="1034" idx="0"/>
            <a:endCxn id="21" idx="2"/>
          </p:cNvCxnSpPr>
          <p:nvPr/>
        </p:nvCxnSpPr>
        <p:spPr>
          <a:xfrm flipV="1">
            <a:off x="2251259" y="1362094"/>
            <a:ext cx="22892" cy="1901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mit Pfeil 75"/>
          <p:cNvCxnSpPr>
            <a:stCxn id="1034" idx="1"/>
            <a:endCxn id="22" idx="3"/>
          </p:cNvCxnSpPr>
          <p:nvPr/>
        </p:nvCxnSpPr>
        <p:spPr>
          <a:xfrm flipH="1">
            <a:off x="907185" y="3513166"/>
            <a:ext cx="1094913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 Verbindung mit Pfeil 77"/>
          <p:cNvCxnSpPr>
            <a:stCxn id="1034" idx="2"/>
            <a:endCxn id="25" idx="0"/>
          </p:cNvCxnSpPr>
          <p:nvPr/>
        </p:nvCxnSpPr>
        <p:spPr>
          <a:xfrm flipH="1">
            <a:off x="2242852" y="3762327"/>
            <a:ext cx="8407" cy="1175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Gerade Verbindung mit Pfeil 90"/>
          <p:cNvCxnSpPr/>
          <p:nvPr/>
        </p:nvCxnSpPr>
        <p:spPr>
          <a:xfrm>
            <a:off x="7307845" y="1097999"/>
            <a:ext cx="1492296" cy="1001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feld 114"/>
          <p:cNvSpPr txBox="1"/>
          <p:nvPr/>
        </p:nvSpPr>
        <p:spPr>
          <a:xfrm>
            <a:off x="7971015" y="4155219"/>
            <a:ext cx="5229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Installer</a:t>
            </a:r>
            <a:endParaRPr lang="en-GB" sz="1400" dirty="0">
              <a:solidFill>
                <a:schemeClr val="bg1"/>
              </a:solidFill>
            </a:endParaRPr>
          </a:p>
        </p:txBody>
      </p:sp>
      <p:cxnSp>
        <p:nvCxnSpPr>
          <p:cNvPr id="1035" name="Gerade Verbindung mit Pfeil 1034"/>
          <p:cNvCxnSpPr>
            <a:stCxn id="8" idx="2"/>
            <a:endCxn id="1046" idx="0"/>
          </p:cNvCxnSpPr>
          <p:nvPr/>
        </p:nvCxnSpPr>
        <p:spPr>
          <a:xfrm>
            <a:off x="5627994" y="3426312"/>
            <a:ext cx="3272" cy="657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Gerade Verbindung mit Pfeil 1050"/>
          <p:cNvCxnSpPr>
            <a:stCxn id="1038" idx="3"/>
          </p:cNvCxnSpPr>
          <p:nvPr/>
        </p:nvCxnSpPr>
        <p:spPr>
          <a:xfrm flipV="1">
            <a:off x="7404885" y="2834040"/>
            <a:ext cx="1383274" cy="2319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feld 127"/>
          <p:cNvSpPr txBox="1"/>
          <p:nvPr/>
        </p:nvSpPr>
        <p:spPr>
          <a:xfrm>
            <a:off x="9870792" y="2091709"/>
            <a:ext cx="790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00" dirty="0" smtClean="0">
                <a:solidFill>
                  <a:schemeClr val="bg1"/>
                </a:solidFill>
              </a:rPr>
              <a:t>Earth Rotation</a:t>
            </a:r>
          </a:p>
          <a:p>
            <a:pPr algn="ctr"/>
            <a:r>
              <a:rPr lang="de-DE" sz="800" dirty="0" smtClean="0">
                <a:solidFill>
                  <a:schemeClr val="bg1"/>
                </a:solidFill>
              </a:rPr>
              <a:t>Data Updates</a:t>
            </a:r>
            <a:endParaRPr lang="en-GB" sz="1000" dirty="0">
              <a:solidFill>
                <a:schemeClr val="bg1"/>
              </a:solidFill>
            </a:endParaRPr>
          </a:p>
        </p:txBody>
      </p:sp>
      <p:pic>
        <p:nvPicPr>
          <p:cNvPr id="1026" name="Picture 2" descr="Crowdin | thirty bees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03" y="4865422"/>
            <a:ext cx="621733" cy="621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Gerade Verbindung mit Pfeil 2"/>
          <p:cNvCxnSpPr/>
          <p:nvPr/>
        </p:nvCxnSpPr>
        <p:spPr>
          <a:xfrm flipH="1" flipV="1">
            <a:off x="960362" y="5064797"/>
            <a:ext cx="1098665" cy="1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mit Pfeil 5"/>
          <p:cNvCxnSpPr/>
          <p:nvPr/>
        </p:nvCxnSpPr>
        <p:spPr>
          <a:xfrm>
            <a:off x="977092" y="5296542"/>
            <a:ext cx="10930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feld 57"/>
          <p:cNvSpPr txBox="1"/>
          <p:nvPr/>
        </p:nvSpPr>
        <p:spPr>
          <a:xfrm>
            <a:off x="305572" y="5357413"/>
            <a:ext cx="679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00" dirty="0" smtClean="0">
                <a:solidFill>
                  <a:schemeClr val="bg1"/>
                </a:solidFill>
              </a:rPr>
              <a:t>Crowdin</a:t>
            </a:r>
          </a:p>
          <a:p>
            <a:pPr algn="ctr"/>
            <a:r>
              <a:rPr lang="de-DE" sz="800" dirty="0" smtClean="0">
                <a:solidFill>
                  <a:schemeClr val="bg1"/>
                </a:solidFill>
              </a:rPr>
              <a:t>Localization</a:t>
            </a:r>
            <a:endParaRPr lang="en-GB" sz="1000" dirty="0">
              <a:solidFill>
                <a:schemeClr val="bg1"/>
              </a:solidFill>
            </a:endParaRPr>
          </a:p>
        </p:txBody>
      </p:sp>
      <p:sp>
        <p:nvSpPr>
          <p:cNvPr id="59" name="Textfeld 58"/>
          <p:cNvSpPr txBox="1"/>
          <p:nvPr/>
        </p:nvSpPr>
        <p:spPr>
          <a:xfrm>
            <a:off x="1209772" y="5073746"/>
            <a:ext cx="5998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Auto Sync</a:t>
            </a:r>
            <a:endParaRPr lang="en-GB" sz="1000" dirty="0">
              <a:solidFill>
                <a:schemeClr val="bg1"/>
              </a:solidFill>
            </a:endParaRPr>
          </a:p>
        </p:txBody>
      </p:sp>
      <p:sp>
        <p:nvSpPr>
          <p:cNvPr id="67" name="Textfeld 66"/>
          <p:cNvSpPr txBox="1"/>
          <p:nvPr/>
        </p:nvSpPr>
        <p:spPr>
          <a:xfrm>
            <a:off x="795432" y="2424865"/>
            <a:ext cx="4908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Heroku</a:t>
            </a:r>
            <a:endParaRPr lang="en-GB" sz="1000" dirty="0">
              <a:solidFill>
                <a:schemeClr val="bg1"/>
              </a:solidFill>
            </a:endParaRPr>
          </a:p>
        </p:txBody>
      </p:sp>
      <p:sp>
        <p:nvSpPr>
          <p:cNvPr id="68" name="Textfeld 67"/>
          <p:cNvSpPr txBox="1"/>
          <p:nvPr/>
        </p:nvSpPr>
        <p:spPr>
          <a:xfrm>
            <a:off x="439157" y="1256678"/>
            <a:ext cx="4988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Discord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69" name="Textfeld 68"/>
          <p:cNvSpPr txBox="1"/>
          <p:nvPr/>
        </p:nvSpPr>
        <p:spPr>
          <a:xfrm>
            <a:off x="10389600" y="575277"/>
            <a:ext cx="9348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Sky Survey Source</a:t>
            </a:r>
            <a:endParaRPr lang="en-GB" sz="800" dirty="0">
              <a:solidFill>
                <a:schemeClr val="bg1"/>
              </a:solidFill>
            </a:endParaRPr>
          </a:p>
        </p:txBody>
      </p:sp>
      <p:cxnSp>
        <p:nvCxnSpPr>
          <p:cNvPr id="73" name="Gerade Verbindung mit Pfeil 72"/>
          <p:cNvCxnSpPr/>
          <p:nvPr/>
        </p:nvCxnSpPr>
        <p:spPr>
          <a:xfrm>
            <a:off x="9479614" y="2388173"/>
            <a:ext cx="1460208" cy="8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/>
          <p:nvPr/>
        </p:nvCxnSpPr>
        <p:spPr>
          <a:xfrm flipH="1" flipV="1">
            <a:off x="9479614" y="2264251"/>
            <a:ext cx="1452856" cy="14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feld 74"/>
          <p:cNvSpPr txBox="1"/>
          <p:nvPr/>
        </p:nvSpPr>
        <p:spPr>
          <a:xfrm>
            <a:off x="8051166" y="1350986"/>
            <a:ext cx="4427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00" dirty="0" smtClean="0">
                <a:solidFill>
                  <a:schemeClr val="bg1"/>
                </a:solidFill>
              </a:rPr>
              <a:t>Plugin</a:t>
            </a:r>
          </a:p>
          <a:p>
            <a:pPr algn="ctr"/>
            <a:r>
              <a:rPr lang="de-DE" sz="800" dirty="0" smtClean="0">
                <a:solidFill>
                  <a:schemeClr val="bg1"/>
                </a:solidFill>
              </a:rPr>
              <a:t>files</a:t>
            </a:r>
            <a:endParaRPr lang="en-GB" sz="1000" dirty="0">
              <a:solidFill>
                <a:schemeClr val="bg1"/>
              </a:solidFill>
            </a:endParaRPr>
          </a:p>
        </p:txBody>
      </p:sp>
      <p:cxnSp>
        <p:nvCxnSpPr>
          <p:cNvPr id="35" name="Gerade Verbindung mit Pfeil 34"/>
          <p:cNvCxnSpPr/>
          <p:nvPr/>
        </p:nvCxnSpPr>
        <p:spPr>
          <a:xfrm flipV="1">
            <a:off x="9460802" y="1145098"/>
            <a:ext cx="1251017" cy="975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/>
          <p:cNvCxnSpPr/>
          <p:nvPr/>
        </p:nvCxnSpPr>
        <p:spPr>
          <a:xfrm flipH="1">
            <a:off x="9383558" y="1105804"/>
            <a:ext cx="1259042" cy="968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feld 81"/>
          <p:cNvSpPr txBox="1"/>
          <p:nvPr/>
        </p:nvSpPr>
        <p:spPr>
          <a:xfrm>
            <a:off x="10732128" y="2479352"/>
            <a:ext cx="9813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chemeClr val="bg1"/>
                </a:solidFill>
              </a:rPr>
              <a:t>datacenter.iers.org</a:t>
            </a:r>
            <a:endParaRPr lang="en-GB" sz="800" dirty="0">
              <a:solidFill>
                <a:schemeClr val="bg1"/>
              </a:solidFill>
            </a:endParaRPr>
          </a:p>
        </p:txBody>
      </p:sp>
      <p:sp>
        <p:nvSpPr>
          <p:cNvPr id="83" name="Textfeld 82"/>
          <p:cNvSpPr txBox="1"/>
          <p:nvPr/>
        </p:nvSpPr>
        <p:spPr>
          <a:xfrm>
            <a:off x="9585922" y="1244267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00" dirty="0" smtClean="0">
                <a:solidFill>
                  <a:schemeClr val="bg1"/>
                </a:solidFill>
              </a:rPr>
              <a:t>Request</a:t>
            </a:r>
          </a:p>
          <a:p>
            <a:pPr algn="ctr"/>
            <a:r>
              <a:rPr lang="de-DE" sz="800" dirty="0" smtClean="0">
                <a:solidFill>
                  <a:schemeClr val="bg1"/>
                </a:solidFill>
              </a:rPr>
              <a:t>Image</a:t>
            </a:r>
            <a:endParaRPr lang="en-GB" sz="1000" dirty="0">
              <a:solidFill>
                <a:schemeClr val="bg1"/>
              </a:solidFill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38828" y="3401768"/>
            <a:ext cx="337178" cy="370074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87315" y="4156478"/>
            <a:ext cx="361105" cy="361105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970" y="4673459"/>
            <a:ext cx="826934" cy="826934"/>
          </a:xfrm>
          <a:prstGeom prst="rect">
            <a:avLst/>
          </a:prstGeom>
        </p:spPr>
      </p:pic>
      <p:cxnSp>
        <p:nvCxnSpPr>
          <p:cNvPr id="27" name="Gerade Verbindung mit Pfeil 26"/>
          <p:cNvCxnSpPr>
            <a:endCxn id="11" idx="1"/>
          </p:cNvCxnSpPr>
          <p:nvPr/>
        </p:nvCxnSpPr>
        <p:spPr>
          <a:xfrm>
            <a:off x="9479614" y="2815612"/>
            <a:ext cx="959214" cy="771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/>
          <p:cNvCxnSpPr>
            <a:endCxn id="14" idx="0"/>
          </p:cNvCxnSpPr>
          <p:nvPr/>
        </p:nvCxnSpPr>
        <p:spPr>
          <a:xfrm>
            <a:off x="9410700" y="2858404"/>
            <a:ext cx="457168" cy="1298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/>
          <p:cNvCxnSpPr/>
          <p:nvPr/>
        </p:nvCxnSpPr>
        <p:spPr>
          <a:xfrm>
            <a:off x="9443999" y="2834040"/>
            <a:ext cx="1387543" cy="1943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/>
          <p:cNvCxnSpPr>
            <a:stCxn id="11" idx="2"/>
          </p:cNvCxnSpPr>
          <p:nvPr/>
        </p:nvCxnSpPr>
        <p:spPr>
          <a:xfrm>
            <a:off x="10607417" y="3771842"/>
            <a:ext cx="318796" cy="916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4" idx="3"/>
          </p:cNvCxnSpPr>
          <p:nvPr/>
        </p:nvCxnSpPr>
        <p:spPr>
          <a:xfrm>
            <a:off x="10048420" y="4337031"/>
            <a:ext cx="663399" cy="489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feld 78"/>
          <p:cNvSpPr txBox="1"/>
          <p:nvPr/>
        </p:nvSpPr>
        <p:spPr>
          <a:xfrm>
            <a:off x="1541578" y="3773808"/>
            <a:ext cx="7280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 smtClean="0">
                <a:solidFill>
                  <a:schemeClr val="bg1"/>
                </a:solidFill>
              </a:rPr>
              <a:t>Bitbucket</a:t>
            </a:r>
            <a:endParaRPr lang="en-GB" sz="1400" dirty="0">
              <a:solidFill>
                <a:schemeClr val="bg1"/>
              </a:solidFill>
            </a:endParaRPr>
          </a:p>
        </p:txBody>
      </p:sp>
      <p:pic>
        <p:nvPicPr>
          <p:cNvPr id="85" name="Picture 12" descr="File:Git icon.sv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109" y="1019173"/>
            <a:ext cx="154736" cy="154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Gerade Verbindung mit Pfeil 3"/>
          <p:cNvCxnSpPr>
            <a:stCxn id="85" idx="2"/>
            <a:endCxn id="16" idx="0"/>
          </p:cNvCxnSpPr>
          <p:nvPr/>
        </p:nvCxnSpPr>
        <p:spPr>
          <a:xfrm flipH="1">
            <a:off x="3597704" y="1173909"/>
            <a:ext cx="3773" cy="105766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feld 85"/>
          <p:cNvSpPr txBox="1"/>
          <p:nvPr/>
        </p:nvSpPr>
        <p:spPr>
          <a:xfrm>
            <a:off x="2911922" y="684012"/>
            <a:ext cx="13885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3rd Party Plugin Repositories</a:t>
            </a:r>
            <a:endParaRPr lang="en-GB" sz="1000" dirty="0">
              <a:solidFill>
                <a:schemeClr val="bg1"/>
              </a:solidFill>
            </a:endParaRPr>
          </a:p>
        </p:txBody>
      </p:sp>
      <p:sp>
        <p:nvSpPr>
          <p:cNvPr id="87" name="Textfeld 86"/>
          <p:cNvSpPr txBox="1"/>
          <p:nvPr/>
        </p:nvSpPr>
        <p:spPr>
          <a:xfrm>
            <a:off x="3008904" y="1584158"/>
            <a:ext cx="11945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Submit Plugin Meta Info</a:t>
            </a:r>
            <a:endParaRPr lang="en-GB" sz="1000" dirty="0">
              <a:solidFill>
                <a:schemeClr val="bg1"/>
              </a:solidFill>
            </a:endParaRPr>
          </a:p>
        </p:txBody>
      </p:sp>
      <p:pic>
        <p:nvPicPr>
          <p:cNvPr id="88" name="Picture 12" descr="File:Git icon.sv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096" y="946903"/>
            <a:ext cx="144094" cy="14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12" descr="File:Git icon.sv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359" y="946903"/>
            <a:ext cx="144094" cy="14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12" descr="File:Git icon.sv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1727" y="875166"/>
            <a:ext cx="144094" cy="14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12" descr="File:Git icon.sv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8450" y="874806"/>
            <a:ext cx="144094" cy="14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12" descr="File:Git icon.sv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026" y="872460"/>
            <a:ext cx="144094" cy="14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" name="Textfeld 93"/>
          <p:cNvSpPr txBox="1"/>
          <p:nvPr/>
        </p:nvSpPr>
        <p:spPr>
          <a:xfrm>
            <a:off x="10803859" y="5601472"/>
            <a:ext cx="6431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Equipment</a:t>
            </a:r>
            <a:endParaRPr lang="en-GB" sz="1400" dirty="0">
              <a:solidFill>
                <a:schemeClr val="bg1"/>
              </a:solidFill>
            </a:endParaRPr>
          </a:p>
        </p:txBody>
      </p:sp>
      <p:cxnSp>
        <p:nvCxnSpPr>
          <p:cNvPr id="60" name="Gerade Verbindung mit Pfeil 59"/>
          <p:cNvCxnSpPr>
            <a:stCxn id="92" idx="3"/>
            <a:endCxn id="37" idx="1"/>
          </p:cNvCxnSpPr>
          <p:nvPr/>
        </p:nvCxnSpPr>
        <p:spPr>
          <a:xfrm>
            <a:off x="3832544" y="946853"/>
            <a:ext cx="3151878" cy="923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feld 120"/>
          <p:cNvSpPr txBox="1"/>
          <p:nvPr/>
        </p:nvSpPr>
        <p:spPr>
          <a:xfrm>
            <a:off x="4678418" y="920870"/>
            <a:ext cx="9621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00" dirty="0" smtClean="0">
                <a:solidFill>
                  <a:schemeClr val="bg1"/>
                </a:solidFill>
              </a:rPr>
              <a:t>Upload Plugin files</a:t>
            </a:r>
            <a:endParaRPr lang="en-GB" sz="1000" dirty="0">
              <a:solidFill>
                <a:schemeClr val="bg1"/>
              </a:solidFill>
            </a:endParaRPr>
          </a:p>
        </p:txBody>
      </p:sp>
      <p:pic>
        <p:nvPicPr>
          <p:cNvPr id="141" name="Grafik 14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24" y="791734"/>
            <a:ext cx="378025" cy="378025"/>
          </a:xfrm>
          <a:prstGeom prst="rect">
            <a:avLst/>
          </a:prstGeom>
        </p:spPr>
      </p:pic>
      <p:pic>
        <p:nvPicPr>
          <p:cNvPr id="142" name="Grafik 14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7509" y="2126263"/>
            <a:ext cx="378025" cy="378025"/>
          </a:xfrm>
          <a:prstGeom prst="rect">
            <a:avLst/>
          </a:prstGeom>
        </p:spPr>
      </p:pic>
      <p:cxnSp>
        <p:nvCxnSpPr>
          <p:cNvPr id="1050" name="Gerade Verbindung mit Pfeil 1049"/>
          <p:cNvCxnSpPr>
            <a:stCxn id="23" idx="3"/>
          </p:cNvCxnSpPr>
          <p:nvPr/>
        </p:nvCxnSpPr>
        <p:spPr>
          <a:xfrm>
            <a:off x="2512181" y="943352"/>
            <a:ext cx="828008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Textfeld 229"/>
          <p:cNvSpPr txBox="1"/>
          <p:nvPr/>
        </p:nvSpPr>
        <p:spPr>
          <a:xfrm>
            <a:off x="614968" y="2882813"/>
            <a:ext cx="6912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Manual</a:t>
            </a:r>
          </a:p>
          <a:p>
            <a:r>
              <a:rPr lang="de-DE" sz="800" dirty="0" smtClean="0">
                <a:solidFill>
                  <a:schemeClr val="bg1"/>
                </a:solidFill>
              </a:rPr>
              <a:t>deployment</a:t>
            </a:r>
            <a:endParaRPr lang="en-GB" sz="800" dirty="0">
              <a:solidFill>
                <a:schemeClr val="bg1"/>
              </a:solidFill>
            </a:endParaRPr>
          </a:p>
        </p:txBody>
      </p:sp>
      <p:sp>
        <p:nvSpPr>
          <p:cNvPr id="232" name="Textfeld 231"/>
          <p:cNvSpPr txBox="1"/>
          <p:nvPr/>
        </p:nvSpPr>
        <p:spPr>
          <a:xfrm>
            <a:off x="46479" y="12430"/>
            <a:ext cx="2519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smtClean="0">
                <a:solidFill>
                  <a:schemeClr val="bg1"/>
                </a:solidFill>
              </a:rPr>
              <a:t>N.I.N.A. Ecosystem</a:t>
            </a: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96" name="Picture 12" descr="File:Git icon.sv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317" y="6170689"/>
            <a:ext cx="144094" cy="14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12" descr="File:Git icon.sv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031" y="6173345"/>
            <a:ext cx="144094" cy="14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12" descr="File:Git icon.sv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977" y="6245442"/>
            <a:ext cx="144094" cy="14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12" descr="File:Git icon.sv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700" y="6245082"/>
            <a:ext cx="144094" cy="14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12" descr="File:Git icon.sv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276" y="6242736"/>
            <a:ext cx="144094" cy="14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Textfeld 100"/>
          <p:cNvSpPr txBox="1"/>
          <p:nvPr/>
        </p:nvSpPr>
        <p:spPr>
          <a:xfrm>
            <a:off x="1876120" y="6393056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>
                <a:solidFill>
                  <a:schemeClr val="bg1"/>
                </a:solidFill>
              </a:rPr>
              <a:t>Contributors</a:t>
            </a:r>
            <a:endParaRPr lang="en-GB" sz="1000" dirty="0">
              <a:solidFill>
                <a:schemeClr val="bg1"/>
              </a:solidFill>
            </a:endParaRPr>
          </a:p>
        </p:txBody>
      </p:sp>
      <p:cxnSp>
        <p:nvCxnSpPr>
          <p:cNvPr id="19" name="Gerade Verbindung mit Pfeil 18"/>
          <p:cNvCxnSpPr>
            <a:stCxn id="107" idx="0"/>
            <a:endCxn id="10" idx="2"/>
          </p:cNvCxnSpPr>
          <p:nvPr/>
        </p:nvCxnSpPr>
        <p:spPr>
          <a:xfrm flipV="1">
            <a:off x="2251259" y="5623927"/>
            <a:ext cx="0" cy="47321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feld 104"/>
          <p:cNvSpPr txBox="1"/>
          <p:nvPr/>
        </p:nvSpPr>
        <p:spPr>
          <a:xfrm>
            <a:off x="2187044" y="5672855"/>
            <a:ext cx="724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800" dirty="0" smtClean="0">
                <a:solidFill>
                  <a:schemeClr val="bg1"/>
                </a:solidFill>
              </a:rPr>
              <a:t>Pull Request</a:t>
            </a:r>
          </a:p>
          <a:p>
            <a:pPr algn="ctr"/>
            <a:r>
              <a:rPr lang="de-DE" sz="800" dirty="0">
                <a:solidFill>
                  <a:schemeClr val="bg1"/>
                </a:solidFill>
              </a:rPr>
              <a:t>&amp;</a:t>
            </a:r>
            <a:r>
              <a:rPr lang="de-DE" sz="800" dirty="0" smtClean="0">
                <a:solidFill>
                  <a:schemeClr val="bg1"/>
                </a:solidFill>
              </a:rPr>
              <a:t/>
            </a:r>
            <a:br>
              <a:rPr lang="de-DE" sz="800" dirty="0" smtClean="0">
                <a:solidFill>
                  <a:schemeClr val="bg1"/>
                </a:solidFill>
              </a:rPr>
            </a:br>
            <a:r>
              <a:rPr lang="de-DE" sz="800" dirty="0" smtClean="0">
                <a:solidFill>
                  <a:schemeClr val="bg1"/>
                </a:solidFill>
              </a:rPr>
              <a:t>Code Review</a:t>
            </a:r>
            <a:endParaRPr lang="en-GB" sz="1000" dirty="0">
              <a:solidFill>
                <a:schemeClr val="bg1"/>
              </a:solidFill>
            </a:endParaRPr>
          </a:p>
        </p:txBody>
      </p:sp>
      <p:pic>
        <p:nvPicPr>
          <p:cNvPr id="107" name="Picture 12" descr="File:Git icon.sv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212" y="6097145"/>
            <a:ext cx="144094" cy="14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8345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Breitbild</PresentationFormat>
  <Paragraphs>41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PowerPoint-Präsentation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Microsoft-Konto</dc:creator>
  <cp:lastModifiedBy>Microsoft-Konto</cp:lastModifiedBy>
  <cp:revision>31</cp:revision>
  <dcterms:created xsi:type="dcterms:W3CDTF">2021-10-24T21:06:10Z</dcterms:created>
  <dcterms:modified xsi:type="dcterms:W3CDTF">2021-10-30T11:45:57Z</dcterms:modified>
</cp:coreProperties>
</file>